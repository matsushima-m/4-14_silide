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Claude Code 講座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457200" y="29260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マーケターのためのAI活用ツール入門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今日の内容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8046720" cy="45720"/>
          </a:xfrm>
          <a:prstGeom prst="rect">
            <a:avLst/>
          </a:prstGeom>
          <a:solidFill>
            <a:srgbClr val="FFD139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097280"/>
            <a:ext cx="804672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 Claude Codeとは何か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モデルの種類・使い方の基本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 自社での活用方法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分析の効率化・自分専用ツール・やっていいこと/ダメなこと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 コンテキストエンジニアリング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AIを使いこなすために一番大事な概念・コマンド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 スキルの作り方（本日のメイン）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辞書型・ワークフロー型・実践ステップ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 セキュリティ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リスクと安全装置・守るべきルール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D1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 Claude Codeとは何か</a:t>
            </a:r>
            <a:endParaRPr lang="en-US" sz="4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Claudeという「頭脳」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8046720" cy="45720"/>
          </a:xfrm>
          <a:prstGeom prst="rect">
            <a:avLst/>
          </a:prstGeom>
          <a:solidFill>
            <a:srgbClr val="FFD139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097280"/>
            <a:ext cx="804672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Claude = Anthropic社が作った世界トップクラスのAI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ChatGPTやGeminiと並ぶ、3大AIの1つ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データの分析・要約・レポート作成が驚くほど得意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「日本語で指示するだけ」で、分析からグラフ作成まで全部やってくれる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3840480"/>
            <a:ext cx="8046720" cy="64008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3840480"/>
            <a:ext cx="54864" cy="640080"/>
          </a:xfrm>
          <a:prstGeom prst="rect">
            <a:avLst/>
          </a:prstGeom>
          <a:solidFill>
            <a:srgbClr val="FFD139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384048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ただし、Claude単体は「頭脳だけの状態」。手も足もない。ファイルを触ったり、調べ物をしたりはできない。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Claude Code = 頭脳 + 装備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8046720" cy="45720"/>
          </a:xfrm>
          <a:prstGeom prst="rect">
            <a:avLst/>
          </a:prstGeom>
          <a:solidFill>
            <a:srgbClr val="FFD139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97280"/>
            <a:ext cx="3657600" cy="2926080"/>
          </a:xfrm>
          <a:prstGeom prst="rect">
            <a:avLst/>
          </a:prstGeom>
          <a:solidFill>
            <a:srgbClr val="FFFFFF"/>
          </a:solidFill>
          <a:ln w="19050">
            <a:solidFill>
              <a:srgbClr val="E8EC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1887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頭脳だけ（素のClaude）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32918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会話はできる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B0B8C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ファイルは触れない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B0B8C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データ分析はできない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B0B8C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調べ物はできない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114800" y="201168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A8FE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5029200" y="1097280"/>
            <a:ext cx="3657600" cy="2926080"/>
          </a:xfrm>
          <a:prstGeom prst="rect">
            <a:avLst/>
          </a:prstGeom>
          <a:solidFill>
            <a:srgbClr val="FFFFFF"/>
          </a:solidFill>
          <a:ln w="25400">
            <a:solidFill>
              <a:srgbClr val="4A8F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212080" y="11887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8FE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装備あり（Claude Code）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212080" y="1737360"/>
            <a:ext cx="32918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会話もできる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ファイルの読み書きができる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データ分析・グラフ作成ができる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ネット検索もできる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840480"/>
            <a:ext cx="8046720" cy="64008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3840480"/>
            <a:ext cx="54864" cy="640080"/>
          </a:xfrm>
          <a:prstGeom prst="rect">
            <a:avLst/>
          </a:prstGeom>
          <a:solidFill>
            <a:srgbClr val="FFD139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384048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RPGでいうと、素手の勇者に剣と盾を持たせたようなもの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結論：デスクトップ版を使おう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8046720" cy="45720"/>
          </a:xfrm>
          <a:prstGeom prst="rect">
            <a:avLst/>
          </a:prstGeom>
          <a:solidFill>
            <a:srgbClr val="FFD139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097280"/>
            <a:ext cx="804672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デスクトップ版・Web版・CLI（黒い画面）の3種類あるが、デスクトップ版が一番おすすめ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技術的な知識は一切不要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アプリを開いて、やりたいことを日本語で伝えるだけ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3840480"/>
            <a:ext cx="8046720" cy="64008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3840480"/>
            <a:ext cx="54864" cy="640080"/>
          </a:xfrm>
          <a:prstGeom prst="rect">
            <a:avLst/>
          </a:prstGeom>
          <a:solidFill>
            <a:srgbClr val="FFD139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384048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「エンジニアじゃないと使えない」は完全な誤解。日本語で「○○を分析して」と伝えるだけでOK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A8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 自社での活用方法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2286000" y="292608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分析の効率化と自分専用ツールの開発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Claude Codeを何に使うのか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8046720" cy="45720"/>
          </a:xfrm>
          <a:prstGeom prst="rect">
            <a:avLst/>
          </a:prstGeom>
          <a:solidFill>
            <a:srgbClr val="FFD139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09728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自社では主に2つの用途で活用していきます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用途1：分析業務の効率化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2011680"/>
            <a:ext cx="804672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CSVやレポートデータの集計・可視化を自動化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日本語で「○○を分析して」と伝えるだけで結果が出る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手作業で数時間かかっていた集計が数分で完了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3200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用途2：自分専用ツールの開発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356616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自分の業務に合った分析ツールやダッシュボードをAIに作ってもらう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エンジニアへの依頼不要。自分で・すぐに・追加費用なしで作れる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4389120"/>
            <a:ext cx="8046720" cy="64008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10" name="Shape 8"/>
          <p:cNvSpPr/>
          <p:nvPr/>
        </p:nvSpPr>
        <p:spPr>
          <a:xfrm>
            <a:off x="548640" y="4389120"/>
            <a:ext cx="54864" cy="640080"/>
          </a:xfrm>
          <a:prstGeom prst="rect">
            <a:avLst/>
          </a:prstGeom>
          <a:solidFill>
            <a:srgbClr val="FFD139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4389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ChatGPTとの違い：会話するだけでなく、実際に動くツールを作ってくれる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自分専用の分析ダッシュボード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8046720" cy="45720"/>
          </a:xfrm>
          <a:prstGeom prst="rect">
            <a:avLst/>
          </a:prstGeom>
          <a:solidFill>
            <a:srgbClr val="FFD139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09728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Claude Codeに「こういうダッシュボードを作って」と伝えるだけ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804672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広告費・CPA・CVRなどの主要KPIを一画面で可視化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CSVを入れるだけで自動更新されるグラフ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前月比・前年比の異常値をハイライト表示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自分のPCの中で動くからセキュリティも安心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3840480"/>
            <a:ext cx="8046720" cy="64008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3840480"/>
            <a:ext cx="54864" cy="640080"/>
          </a:xfrm>
          <a:prstGeom prst="rect">
            <a:avLst/>
          </a:prstGeom>
          <a:solidFill>
            <a:srgbClr val="FFD139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84048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外部ツールに月額を払う必要なし。自分の業務にぴったり合った、世界にひとつだけのツールが作れる。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活用の進め方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8046720" cy="45720"/>
          </a:xfrm>
          <a:prstGeom prst="rect">
            <a:avLst/>
          </a:prstGeom>
          <a:solidFill>
            <a:srgbClr val="FFD139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0972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ステップ1：「面倒な繰り返し作業」を洗い出す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毎週やっている集計、毎月のレポート、定期的なチェック作業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20116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ステップ2：Claude Codeに日本語でやり方を伝える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46888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「このCSVを読んで、こういう形式でまとめて」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29260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ステップ3：うまくいったらスキル化して再利用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31520" y="338328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次回から一言で同じ作業を実行できる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840480"/>
            <a:ext cx="8046720" cy="64008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3840480"/>
            <a:ext cx="54864" cy="640080"/>
          </a:xfrm>
          <a:prstGeom prst="rect">
            <a:avLst/>
          </a:prstGeom>
          <a:solidFill>
            <a:srgbClr val="FFD139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84048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ただし、AIに渡す情報の量には限りがある。これを理解しないとうまく使えない → 次のセクションで解説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便利さとリスクはトレードオフ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8046720" cy="45720"/>
          </a:xfrm>
          <a:prstGeom prst="rect">
            <a:avLst/>
          </a:prstGeom>
          <a:solidFill>
            <a:srgbClr val="FFD139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09728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AIは便利だが、情報セキュリティとのバランスが必要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自分でやってOKなこと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201168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個人情報を含まない配信結果の分析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自分のPCだけで使う専用ツールの作成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定例作業の効率化（レポート整形・集計など）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29260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依頼が必要なこと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32918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広告媒体のデータを使った分析・ツール開発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社内システムと連携する仕組みの構築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840480"/>
            <a:ext cx="8046720" cy="64008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10" name="Shape 8"/>
          <p:cNvSpPr/>
          <p:nvPr/>
        </p:nvSpPr>
        <p:spPr>
          <a:xfrm>
            <a:off x="548640" y="3840480"/>
            <a:ext cx="54864" cy="640080"/>
          </a:xfrm>
          <a:prstGeom prst="rect">
            <a:avLst/>
          </a:prstGeom>
          <a:solidFill>
            <a:srgbClr val="FFD139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384048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媒体情報を使って何かしたい場合は、自分またはエンジニアチームに作成を依頼してください。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絶対にやってはいけないこと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8046720" cy="45720"/>
          </a:xfrm>
          <a:prstGeom prst="rect">
            <a:avLst/>
          </a:prstGeom>
          <a:solidFill>
            <a:srgbClr val="FFD139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0972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 個人情報を読み込ませない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顧客名・メールアドレスなどが入ったデータは絶対にAIに渡さない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20116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 APIキー・パスワードを渡さない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46888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APIキー = 外部サービスに接続するための合鍵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「このAPIを使って○○して」は厳禁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無料のAI用APIも学習がONの場合が多く、情報が学習データに使われる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33832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 広告媒体のAPIには絶対に接続しない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31520" y="384048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Google広告、Meta広告などのAPI。「APIで広告データを取ってきて分析して」もダメ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4297680"/>
            <a:ext cx="8046720" cy="64008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4297680"/>
            <a:ext cx="54864" cy="640080"/>
          </a:xfrm>
          <a:prstGeom prst="rect">
            <a:avLst/>
          </a:prstGeom>
          <a:solidFill>
            <a:srgbClr val="FFD139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429768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詳しくはセキュリティのセクションで解説します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D1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 コンテキストエンジニアリング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2286000" y="292608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AIを使いこなすために一番大事な概念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コンテキスト = AIの「作業机の広さ」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8046720" cy="45720"/>
          </a:xfrm>
          <a:prstGeom prst="rect">
            <a:avLst/>
          </a:prstGeom>
          <a:solidFill>
            <a:srgbClr val="FFD139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09728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コンテキスト = 1回のやりとりでAIが見渡せる情報の量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804672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最新モデルでハリーポッター約1.5冊分（20万トークン）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多く感じるかもしれないが、実はすぐに埋まる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だから何を机に置くかが大事になる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3840480"/>
            <a:ext cx="8046720" cy="64008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3840480"/>
            <a:ext cx="54864" cy="640080"/>
          </a:xfrm>
          <a:prstGeom prst="rect">
            <a:avLst/>
          </a:prstGeom>
          <a:solidFill>
            <a:srgbClr val="FFD139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84048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机の上に置ける資料には限りがある。分析データを広げすぎると、作業スペースがなくなる。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作業机には全部が載っている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8046720" cy="45720"/>
          </a:xfrm>
          <a:prstGeom prst="rect">
            <a:avLst/>
          </a:prstGeom>
          <a:solidFill>
            <a:srgbClr val="FFD139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0972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コンテキスト（作業机）の中には、こんなものが全部載っている：</a:t>
            </a:r>
            <a:endParaRPr lang="en-US" sz="1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804672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402336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載っているもの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A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たとえると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A6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3A6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あなたが送った指示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7556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依頼書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3A6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AIが考えた内容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7556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メモ帳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3A6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読み込んだCSVやレポート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7556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分析資料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3A6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分析結果やグラフ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7556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報告書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3A6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記憶（メモリ）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7556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付箋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3A6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ツールのやりとり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7556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やりとりの履歴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114800"/>
            <a:ext cx="8046720" cy="64008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4114800"/>
            <a:ext cx="54864" cy="640080"/>
          </a:xfrm>
          <a:prstGeom prst="rect">
            <a:avLst/>
          </a:prstGeom>
          <a:solidFill>
            <a:srgbClr val="FFD139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411480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これが全部、同じ机の上に載っている。意外とすぐ机がいっぱいになる。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よくある誤解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8046720" cy="45720"/>
          </a:xfrm>
          <a:prstGeom prst="rect">
            <a:avLst/>
          </a:prstGeom>
          <a:solidFill>
            <a:srgbClr val="FFD13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097280"/>
            <a:ext cx="8046720" cy="64008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097280"/>
            <a:ext cx="54864" cy="640080"/>
          </a:xfrm>
          <a:prstGeom prst="rect">
            <a:avLst/>
          </a:prstGeom>
          <a:solidFill>
            <a:srgbClr val="FFD139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9728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「AIにたくさん情報を食わせて賢くさせよう」← AI開発者の話。使う側は逆。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9202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問題1：思考スペースの圧迫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228600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情報を入れすぎると、AIが考えるためのスペースがなくなる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結果 → AIの性能が落ちる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31089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問題2：自動圧縮の発動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347472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机がいっぱいになると、AIが自動的に情報を圧縮する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大事な指示まで一緒に潰されることがある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結果 → 言うことを聞かなくなる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自動圧縮のイメージ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8046720" cy="45720"/>
          </a:xfrm>
          <a:prstGeom prst="rect">
            <a:avLst/>
          </a:prstGeom>
          <a:solidFill>
            <a:srgbClr val="FFD13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097280"/>
            <a:ext cx="8046720" cy="2926080"/>
          </a:xfrm>
          <a:prstGeom prst="rect">
            <a:avLst/>
          </a:prstGeom>
          <a:solidFill>
            <a:srgbClr val="2B3A67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18872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【圧縮前の机】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┌─────────────────────────────┐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指示書  メモ  資料  参考書  │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報告書  計算用紙  付箋     │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────── もう置けない！ ──── │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└─────────────────────────────┘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↓ 自動圧縮が発動 ↓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【圧縮後の机】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┌─────────────────────────────┐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ぎゅっと圧縮された何か     │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※大事な指示も一緒に潰れた │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└─────────────────────────────┘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4206240"/>
            <a:ext cx="8046720" cy="64008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4206240"/>
            <a:ext cx="54864" cy="640080"/>
          </a:xfrm>
          <a:prstGeom prst="rect">
            <a:avLst/>
          </a:prstGeom>
          <a:solidFill>
            <a:srgbClr val="FFD139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420624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圧縮が起きないように、余裕を持たせるのが大事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正しいアプローチ：量より質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8046720" cy="45720"/>
          </a:xfrm>
          <a:prstGeom prst="rect">
            <a:avLst/>
          </a:prstGeom>
          <a:solidFill>
            <a:srgbClr val="FFD139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18872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C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✕ 大量の情報を入れて「覚えさせる」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8FE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○ 本当に必要なものだけ厳選して渡す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2560320"/>
            <a:ext cx="8046720" cy="64008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2560320"/>
            <a:ext cx="54864" cy="640080"/>
          </a:xfrm>
          <a:prstGeom prst="rect">
            <a:avLst/>
          </a:prstGeom>
          <a:solidFill>
            <a:srgbClr val="FFD139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5603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部下に分析を頼むとき、社内の全データを渡す → ✕  必要なデータだけまとめて渡す → ○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347472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では、どうやって「必要な情報だけ」を渡すのか？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48640" y="393192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その仕組みがClaude.mdとスキル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Claude.md ― AIの「常駐メモ」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8046720" cy="45720"/>
          </a:xfrm>
          <a:prstGeom prst="rect">
            <a:avLst/>
          </a:prstGeom>
          <a:solidFill>
            <a:srgbClr val="FFD139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09728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Claude.md = Claudeがずっと頭の中に持っている情報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8046720" cy="2286000"/>
          </a:xfrm>
          <a:prstGeom prst="rect">
            <a:avLst/>
          </a:prstGeom>
          <a:solidFill>
            <a:srgbClr val="2B3A67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645920"/>
            <a:ext cx="768096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┌─────────────────────────────┐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   Claude.md (常駐)       │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・基本ルール  ・参照先    │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     200行以内            │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└──────────┬──────────────────┘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│ 必要なときに読みに行く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┌─────┼─────┐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▼     ▼     ▼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docs/  docs/  docs/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分析A  手順B  テンプレC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4023360"/>
            <a:ext cx="8046720" cy="64008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4023360"/>
            <a:ext cx="54864" cy="640080"/>
          </a:xfrm>
          <a:prstGeom prst="rect">
            <a:avLst/>
          </a:prstGeom>
          <a:solidFill>
            <a:srgbClr val="FFD139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402336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ポイント：全部書くのではなく、「読みに行く先」を育てる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段階的開示 ― Claude.mdの設計思想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8046720" cy="45720"/>
          </a:xfrm>
          <a:prstGeom prst="rect">
            <a:avLst/>
          </a:prstGeom>
          <a:solidFill>
            <a:srgbClr val="FFD139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09728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Claude.mdの核心は「情報を一度に全部渡さない」こと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8046720" cy="2011680"/>
          </a:xfrm>
          <a:prstGeom prst="rect">
            <a:avLst/>
          </a:prstGeom>
          <a:solidFill>
            <a:srgbClr val="2B3A67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645920"/>
            <a:ext cx="76809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Claude.mdに「目次」だけ書く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・レポート作成 → docs/report.md を読め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・競合分析   → docs/competitor.md を読め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↓ 必要なときだけ読みに行く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「今回はレポートだな」→ report.md だけ開く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↓ さらに必要なら追加資料を取り出す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テンプレート / 用語集 ← 本当に必要な分だけ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3749040"/>
            <a:ext cx="8046720" cy="64008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3749040"/>
            <a:ext cx="54864" cy="640080"/>
          </a:xfrm>
          <a:prstGeom prst="rect">
            <a:avLst/>
          </a:prstGeom>
          <a:solidFill>
            <a:srgbClr val="FFD139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374904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全部を机に置かない。必要な棚だけ開く。これがコンテキストを最大限活かすコツ。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まずは1体のAIを育てよう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8046720" cy="45720"/>
          </a:xfrm>
          <a:prstGeom prst="rect">
            <a:avLst/>
          </a:prstGeom>
          <a:solidFill>
            <a:srgbClr val="FFD13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097280"/>
            <a:ext cx="8046720" cy="64008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097280"/>
            <a:ext cx="54864" cy="640080"/>
          </a:xfrm>
          <a:prstGeom prst="rect">
            <a:avLst/>
          </a:prstGeom>
          <a:solidFill>
            <a:srgbClr val="FFD139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9728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「マルチエージェントでチームを組んで効率化！」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9202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現実は…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22860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コンテキスト管理を無視したマルチエージェントが大半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最初は動く。でも情報が増えるとすぐ破綻する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結果 → 使い物にならないものがほとんど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3200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正しい順番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356616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4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まずシングルエージェント（1体のAI）を極める</a:t>
            </a:r>
            <a:endParaRPr lang="en-US" sz="14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コンテキスト管理を身につける</a:t>
            </a:r>
            <a:endParaRPr lang="en-US" sz="14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その上で各エージェントの情報設計を学ぶ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4389120"/>
            <a:ext cx="8046720" cy="64008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4389120"/>
            <a:ext cx="54864" cy="640080"/>
          </a:xfrm>
          <a:prstGeom prst="rect">
            <a:avLst/>
          </a:prstGeom>
          <a:solidFill>
            <a:srgbClr val="FFD139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4389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1体をちゃんと使えない人が、チームを組んでもうまくいかない。今日の講座は、この「1体を極める」ための内容です。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覚えておきたいコマンド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8046720" cy="45720"/>
          </a:xfrm>
          <a:prstGeom prst="rect">
            <a:avLst/>
          </a:prstGeom>
          <a:solidFill>
            <a:srgbClr val="FFD139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0972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Claude Codeでは「/」で始まるコマンドが使える</a:t>
            </a:r>
            <a:endParaRPr lang="en-US" sz="14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80467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60350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コマンド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A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何をするか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A6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3A6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/compact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7556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会話を圧縮して机のスペースを空ける（最重要）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3A6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/clear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7556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会話をリセットしてまっさらにする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3A6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/context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7556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今コンテキストに何が載っているか一覧表示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3A6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/help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7556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使えるコマンドの一覧を表示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3474720"/>
            <a:ext cx="8046720" cy="64008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3474720"/>
            <a:ext cx="54864" cy="640080"/>
          </a:xfrm>
          <a:prstGeom prst="rect">
            <a:avLst/>
          </a:prstGeom>
          <a:solidFill>
            <a:srgbClr val="FFD139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34747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特に /compact は超重要。作業が長くなったら「机がいっぱいになる前に整理する」イメージ。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4A8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 スキルの作り方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2286000" y="292608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この講座で一番大事なパート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なぜスキルが重要なのか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8046720" cy="45720"/>
          </a:xfrm>
          <a:prstGeom prst="rect">
            <a:avLst/>
          </a:prstGeom>
          <a:solidFill>
            <a:srgbClr val="FFD139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09728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AIに毎回同じ説明をしていませんか？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804672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「うちのブランドのトーンは○○で…」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「レポートはこの形式で…」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「分析の観点はこの3つで…」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292608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毎回伝えると机がすぐ埋まるし、伝え漏れも起きる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3474720"/>
            <a:ext cx="8046720" cy="64008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3474720"/>
            <a:ext cx="54864" cy="640080"/>
          </a:xfrm>
          <a:prstGeom prst="rect">
            <a:avLst/>
          </a:prstGeom>
          <a:solidFill>
            <a:srgbClr val="FFD139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34747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スキルにまとめておけば、一言で呼び出せる。しかもコンテキストを必要なときだけ使うので効率的。さらにスキルはただのファイルなので、チームメンバーへの共有もコピーするだけ。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スキルの2つのタイプ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8046720" cy="45720"/>
          </a:xfrm>
          <a:prstGeom prst="rect">
            <a:avLst/>
          </a:prstGeom>
          <a:solidFill>
            <a:srgbClr val="FFD139"/>
          </a:solidFill>
          <a:ln/>
        </p:spPr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97280"/>
          <a:ext cx="80467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108960"/>
                <a:gridCol w="310896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A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辞書型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A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ワークフロー型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A6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3A6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役割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7556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知識を整理して渡す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7556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手順を教える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3A6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たとえ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7556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用語辞典・ガイドライン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7556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作業マニュアル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3A6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いつ使う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7556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AIが判断に迷うとき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7556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AIに一連の作業を任せるとき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3A6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例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7556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ブランド用語集、分析ルール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7556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月次レポート作成、競合調査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474720"/>
            <a:ext cx="8046720" cy="64008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6" name="Shape 3"/>
          <p:cNvSpPr/>
          <p:nvPr/>
        </p:nvSpPr>
        <p:spPr>
          <a:xfrm>
            <a:off x="548640" y="3474720"/>
            <a:ext cx="54864" cy="640080"/>
          </a:xfrm>
          <a:prstGeom prst="rect">
            <a:avLst/>
          </a:prstGeom>
          <a:solidFill>
            <a:srgbClr val="FFD139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34747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まずはこの2つを理解すれば、スキルの設計で迷わなくなる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辞書型スキル ― 知識を整理して渡す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8046720" cy="45720"/>
          </a:xfrm>
          <a:prstGeom prst="rect">
            <a:avLst/>
          </a:prstGeom>
          <a:solidFill>
            <a:srgbClr val="FFD139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09728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AIが判断に迷わないよう、正しい知識をまとめたもの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例：ブランドガイドライン・スキル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92024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自社名の正式表記（「株式会社○○」ではなく「○○」と書く）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NGワード一覧（競合名を直接出さない、など）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トーン＆マナー（カジュアル／フォーマルの基準）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8346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例：分析ルール・スキル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320040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KPIの定義（「CVR」は何を指すか、計算式は何か）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比較期間のルール（前月比？前年同月比？）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異常値の判断基準（○%以上の変動は要報告）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4206240"/>
            <a:ext cx="8046720" cy="64008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10" name="Shape 8"/>
          <p:cNvSpPr/>
          <p:nvPr/>
        </p:nvSpPr>
        <p:spPr>
          <a:xfrm>
            <a:off x="548640" y="4206240"/>
            <a:ext cx="54864" cy="640080"/>
          </a:xfrm>
          <a:prstGeom prst="rect">
            <a:avLst/>
          </a:prstGeom>
          <a:solidFill>
            <a:srgbClr val="FFD139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420624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「こう書いて」「こう判断して」を事前にまとめておく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ワークフロー型スキル ― 手順を教える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8046720" cy="45720"/>
          </a:xfrm>
          <a:prstGeom prst="rect">
            <a:avLst/>
          </a:prstGeom>
          <a:solidFill>
            <a:srgbClr val="FFD139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09728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AIに一連の作業を順番通りにやらせるためのもの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例：月次レポート作成スキル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1920240"/>
            <a:ext cx="8046720" cy="1371600"/>
          </a:xfrm>
          <a:prstGeom prst="rect">
            <a:avLst/>
          </a:prstGeom>
          <a:solidFill>
            <a:srgbClr val="2B3A67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011680"/>
            <a:ext cx="76809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ステップ1：CSVファイルを読み込む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ステップ2：前月比で主要KPIを集計する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ステップ3：変動が大きい項目をピックアップ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ステップ4：考察コメントを3行で書く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ステップ5：所定のテンプレートに整形して出力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33832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例：競合サイト調査スキル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749040"/>
            <a:ext cx="8046720" cy="1005840"/>
          </a:xfrm>
          <a:prstGeom prst="rect">
            <a:avLst/>
          </a:prstGeom>
          <a:solidFill>
            <a:srgbClr val="2B3A67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384048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ステップ1：指定URLのページ内容を取得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ステップ2：価格・機能・訴求ポイントを抽出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ステップ3：自社との比較表を作成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ステップ4：差別化ポイントを3つ提案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良いスキルを作る4つのコツ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8046720" cy="45720"/>
          </a:xfrm>
          <a:prstGeom prst="rect">
            <a:avLst/>
          </a:prstGeom>
          <a:solidFill>
            <a:srgbClr val="FFD13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097280"/>
            <a:ext cx="457200" cy="457200"/>
          </a:xfrm>
          <a:prstGeom prst="rect">
            <a:avLst/>
          </a:prstGeom>
          <a:solidFill>
            <a:srgbClr val="4A8FE7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097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まず失敗を観察する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88720" y="1463040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いきなり完璧を目指さず、AIがどこでつまずくかを見てから作る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457200" cy="457200"/>
          </a:xfrm>
          <a:prstGeom prst="rect">
            <a:avLst/>
          </a:prstGeom>
          <a:solidFill>
            <a:srgbClr val="4A8FE7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0116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88720" y="2011680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辞書型とワークフロー型を分ける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2377440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知識と手順を別ファイルにする。同時に使わない情報は分割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926080"/>
            <a:ext cx="457200" cy="457200"/>
          </a:xfrm>
          <a:prstGeom prst="rect">
            <a:avLst/>
          </a:prstGeom>
          <a:solidFill>
            <a:srgbClr val="4A8FE7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926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188720" y="2926080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名前と説明をAI向けに書く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188720" y="3291840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AIが「いつこのスキルを使うべきか」判断できる名前にする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840480"/>
            <a:ext cx="457200" cy="457200"/>
          </a:xfrm>
          <a:prstGeom prst="rect">
            <a:avLst/>
          </a:prstGeom>
          <a:solidFill>
            <a:srgbClr val="4A8FE7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840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188720" y="3840480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AIと対話しながら改善する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88720" y="4206240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Claude自身に「なぜ失敗したか分析して」と改善させる</a:t>
            </a:r>
            <a:endParaRPr lang="en-US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実践：スキルの作り方ステップ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8046720" cy="45720"/>
          </a:xfrm>
          <a:prstGeom prst="rect">
            <a:avLst/>
          </a:prstGeom>
          <a:solidFill>
            <a:srgbClr val="FFD139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0972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特別なことは不要。この流れでOK：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ステップ1：まず普通にClaude Codeで作業する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178308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例：「このCSVを月次レポートにまとめて」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1945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ステップ2：うまくいったらこう伝える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251460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「この作業をスキルとして登録して」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29260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ステップ3：Claudeが自動でスキルファイルを作ってくれる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48640" y="36576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ステップ4：次回から一言で呼び出せる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31520" y="397764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「月次レポートスキルでこのデータを分析して」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389120"/>
            <a:ext cx="8046720" cy="64008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4389120"/>
            <a:ext cx="54864" cy="640080"/>
          </a:xfrm>
          <a:prstGeom prst="rect">
            <a:avLst/>
          </a:prstGeom>
          <a:solidFill>
            <a:srgbClr val="FFD139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4389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うまくいかなかったら「○○の部分を修正して」で改善できる</a:t>
            </a:r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マーケ業務でのスキル活用例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8046720" cy="45720"/>
          </a:xfrm>
          <a:prstGeom prst="rect">
            <a:avLst/>
          </a:prstGeom>
          <a:solidFill>
            <a:srgbClr val="FFD139"/>
          </a:solidFill>
          <a:ln/>
        </p:spPr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97280"/>
          <a:ext cx="804672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286000"/>
                <a:gridCol w="32004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スキル名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A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タイプ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A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内容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A6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3A6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ブランドガイドライン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7556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辞書型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7556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表記ルール・NGワード・トーン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3A6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KPI定義集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7556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辞書型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7556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指標の定義・計算式・判断基準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3A6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月次レポート作成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7556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ワークフロー型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7556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CSV読込→集計→考察→整形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3A6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競合サイト調査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7556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ワークフロー型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7556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URL取得→抽出→比較表→提案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3A6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広告コピー作成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7556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辞書型+ワークフロー型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7556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ガイドに沿って訴求文を生成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657600"/>
            <a:ext cx="8046720" cy="64008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6" name="Shape 3"/>
          <p:cNvSpPr/>
          <p:nvPr/>
        </p:nvSpPr>
        <p:spPr>
          <a:xfrm>
            <a:off x="548640" y="3657600"/>
            <a:ext cx="54864" cy="640080"/>
          </a:xfrm>
          <a:prstGeom prst="rect">
            <a:avLst/>
          </a:prstGeom>
          <a:solidFill>
            <a:srgbClr val="FFD139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365760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繰り返す作業は全部スキル化の候補。まずは一番よくやる作業から始めてみましょう。</a:t>
            </a:r>
            <a:endParaRPr lang="en-US" sz="1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D1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 セキュリティ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2286000" y="292608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便利だからこそ知っておくべきリスク</a:t>
            </a:r>
            <a:endParaRPr lang="en-US" sz="1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Claude Codeに潜むリスクを知ろう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8046720" cy="45720"/>
          </a:xfrm>
          <a:prstGeom prst="rect">
            <a:avLst/>
          </a:prstGeom>
          <a:solidFill>
            <a:srgbClr val="FFD139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09728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Claude Codeは便利な反面、あなたのPCで直接動くツール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Claude Codeができること（＝リスクにもなること）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92024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ファイルの読み書き・削除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ネット検索・外部サイトへのアクセス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コマンドの実行 → PCに対して何でもできてしまう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28346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あなたのPC上にあるもの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320040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大事なファイル（業務資料・社内文書）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認証情報（パスワード・APIキー・ログイン状態）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4023360"/>
            <a:ext cx="8046720" cy="64008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10" name="Shape 8"/>
          <p:cNvSpPr/>
          <p:nvPr/>
        </p:nvSpPr>
        <p:spPr>
          <a:xfrm>
            <a:off x="548640" y="4023360"/>
            <a:ext cx="54864" cy="640080"/>
          </a:xfrm>
          <a:prstGeom prst="rect">
            <a:avLst/>
          </a:prstGeom>
          <a:solidFill>
            <a:srgbClr val="FFD139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402336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指示の仕方を間違えると、大事なデータを消したり外部に送ったりできてしまう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Claude Codeの安全装置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8046720" cy="45720"/>
          </a:xfrm>
          <a:prstGeom prst="rect">
            <a:avLst/>
          </a:prstGeom>
          <a:solidFill>
            <a:srgbClr val="FFD139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09728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実はClaude Codeには安全装置が備わっている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365760" cy="365760"/>
          </a:xfrm>
          <a:prstGeom prst="rect">
            <a:avLst/>
          </a:prstGeom>
          <a:solidFill>
            <a:srgbClr val="4A8FE7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5544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97280" y="155448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パーミッションモード（確認モード）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97280" y="1920240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危険な操作の前に「実行していいですか？」と確認してくれる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97280" y="2194560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絶対にbypass（確認スキップ）しないこと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651760"/>
            <a:ext cx="365760" cy="365760"/>
          </a:xfrm>
          <a:prstGeom prst="rect">
            <a:avLst/>
          </a:prstGeom>
          <a:solidFill>
            <a:srgbClr val="4A8FE7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6517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97280" y="265176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Sandbox（砂場モード）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97280" y="3017520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Claude Codeが触れる範囲を指定フォルダだけに制限できる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097280" y="3291840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フォルダ外のファイルやネットワークへのアクセスを遮断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3749040"/>
            <a:ext cx="365760" cy="365760"/>
          </a:xfrm>
          <a:prstGeom prst="rect">
            <a:avLst/>
          </a:prstGeom>
          <a:solidFill>
            <a:srgbClr val="4A8FE7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37490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097280" y="374904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組織設定（管理者が一括設定）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97280" y="4114800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会社のセキュリティルールを全員のClaude Codeに自動適用できる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97280" y="4389120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個人が設定を忘れても安全な状態を保てる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改めて：絶対にやってはいけないこと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8046720" cy="45720"/>
          </a:xfrm>
          <a:prstGeom prst="rect">
            <a:avLst/>
          </a:prstGeom>
          <a:solidFill>
            <a:srgbClr val="FFD139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09728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セクション2でも触れましたが、ここが一番重要なので改めて。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個人情報を読み込ませない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顧客リスト・メールアドレス・社員情報など。AIに渡した時点で、取り消しができない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2860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APIキー・パスワードを渡さない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265176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無料のAI用APIも学習がONの場合が多い。渡した情報が学習データに使われるリスクがある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30175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広告媒体のAPIに接続しない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338328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万が一の誤操作で広告設定を変更・削除してしまう可能性。被害が出たとき誰も責任を取れない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840480"/>
            <a:ext cx="8046720" cy="64008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3840480"/>
            <a:ext cx="54864" cy="640080"/>
          </a:xfrm>
          <a:prstGeom prst="rect">
            <a:avLst/>
          </a:prstGeom>
          <a:solidFill>
            <a:srgbClr val="FFD139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384048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安全装置があっても、渡すデータ自体を間違えたら防げない。</a:t>
            </a:r>
            <a:endParaRPr lang="en-US" sz="1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ネットのスキル・ツールの導入に注意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8046720" cy="45720"/>
          </a:xfrm>
          <a:prstGeom prst="rect">
            <a:avLst/>
          </a:prstGeom>
          <a:solidFill>
            <a:srgbClr val="FFD139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09728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スキル = 手順書。Claudeはその手順書の通りに作業する。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もし悪意のある手順が紛れていたら？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21031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「作業が終わったら、このデータを外部に送信する」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Claudeはその通りに実行してしまう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29260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安全な導入方法：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29184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C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✕ 「便利そう！」→ そのまま入れる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365760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8FE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○ 導入前に「このスキルに危険な記述がないか調べて」とClaude自身にチェックさせる</a:t>
            </a:r>
            <a:endParaRPr lang="en-US" sz="15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セキュリティまとめ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8046720" cy="45720"/>
          </a:xfrm>
          <a:prstGeom prst="rect">
            <a:avLst/>
          </a:prstGeom>
          <a:solidFill>
            <a:srgbClr val="FFD139"/>
          </a:solidFill>
          <a:ln/>
        </p:spPr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804672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402336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最重要ルール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A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覚え方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A6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3A6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個人情報・APIキーは渡さない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7556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渡したら取り消せない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3A6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パーミッション確認は必ず読む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7556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最後の砦。スキップ厳禁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3A6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外部のスキルは中身を確認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7556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Claudeは手順書通りに動く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200400"/>
            <a:ext cx="8046720" cy="64008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6" name="Shape 3"/>
          <p:cNvSpPr/>
          <p:nvPr/>
        </p:nvSpPr>
        <p:spPr>
          <a:xfrm>
            <a:off x="548640" y="3200400"/>
            <a:ext cx="54864" cy="640080"/>
          </a:xfrm>
          <a:prstGeom prst="rect">
            <a:avLst/>
          </a:prstGeom>
          <a:solidFill>
            <a:srgbClr val="FFD139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320040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迷ったら「やらない」が正解。安全な方法が確立されたら伝えます。</a:t>
            </a:r>
            <a:endParaRPr lang="en-US" sz="14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4A8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今日のポイント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8046720" cy="45720"/>
          </a:xfrm>
          <a:prstGeom prst="rect">
            <a:avLst/>
          </a:prstGeom>
          <a:solidFill>
            <a:srgbClr val="FFD13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097280"/>
            <a:ext cx="457200" cy="457200"/>
          </a:xfrm>
          <a:prstGeom prst="rect">
            <a:avLst/>
          </a:prstGeom>
          <a:solidFill>
            <a:srgbClr val="2B3A67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097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Claude Code = AIに道具を持たせたもの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88720" y="146304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デスクトップ版がおすすめ。技術知識は不要。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457200" cy="457200"/>
          </a:xfrm>
          <a:prstGeom prst="rect">
            <a:avLst/>
          </a:prstGeom>
          <a:solidFill>
            <a:srgbClr val="2B3A67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0116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88720" y="2011680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コンテキスト（作業机）は有限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237744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量より質。必要なデータだけを厳選して渡す。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926080"/>
            <a:ext cx="457200" cy="457200"/>
          </a:xfrm>
          <a:prstGeom prst="rect">
            <a:avLst/>
          </a:prstGeom>
          <a:solidFill>
            <a:srgbClr val="2B3A67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926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188720" y="2926080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スキルで「繰り返す作業」を効率化する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188720" y="329184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辞書型で知識を整理、ワークフロー型で手順を教える。まずは一番よくやる作業からスキル化してみよう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840480"/>
            <a:ext cx="457200" cy="457200"/>
          </a:xfrm>
          <a:prstGeom prst="rect">
            <a:avLst/>
          </a:prstGeom>
          <a:solidFill>
            <a:srgbClr val="2B3A67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840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188720" y="3840480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3A6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セキュリティルールは絶対に守る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88720" y="420624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個人情報・APIキー・広告媒体には触らない。</a:t>
            </a:r>
            <a:endParaRPr lang="en-US" sz="13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2B3A6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ありがとうございました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2004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質問があればいつでもどうぞ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Claude Code 講座</dc:title>
  <dc:subject>PptxGenJS Presentation</dc:subject>
  <dc:creator>Claude Code</dc:creator>
  <cp:lastModifiedBy>Claude Code</cp:lastModifiedBy>
  <cp:revision>1</cp:revision>
  <dcterms:created xsi:type="dcterms:W3CDTF">2026-04-13T14:29:26Z</dcterms:created>
  <dcterms:modified xsi:type="dcterms:W3CDTF">2026-04-13T14:29:26Z</dcterms:modified>
</cp:coreProperties>
</file>